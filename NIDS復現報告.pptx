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0C6BDAF-2980-4D00-86F0-72201E8B4080}" type="datetimeFigureOut">
              <a:rPr lang="zh-TW" altLang="en-US" smtClean="0"/>
              <a:t>2025/9/26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DC83586-DD88-40E2-B34F-B95C86CD71E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4737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6BDAF-2980-4D00-86F0-72201E8B4080}" type="datetimeFigureOut">
              <a:rPr lang="zh-TW" altLang="en-US" smtClean="0"/>
              <a:t>2025/9/26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83586-DD88-40E2-B34F-B95C86CD71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6551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6BDAF-2980-4D00-86F0-72201E8B4080}" type="datetimeFigureOut">
              <a:rPr lang="zh-TW" altLang="en-US" smtClean="0"/>
              <a:t>2025/9/26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83586-DD88-40E2-B34F-B95C86CD71E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196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6BDAF-2980-4D00-86F0-72201E8B4080}" type="datetimeFigureOut">
              <a:rPr lang="zh-TW" altLang="en-US" smtClean="0"/>
              <a:t>2025/9/26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83586-DD88-40E2-B34F-B95C86CD71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5331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6BDAF-2980-4D00-86F0-72201E8B4080}" type="datetimeFigureOut">
              <a:rPr lang="zh-TW" altLang="en-US" smtClean="0"/>
              <a:t>2025/9/26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83586-DD88-40E2-B34F-B95C86CD71E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2707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6BDAF-2980-4D00-86F0-72201E8B4080}" type="datetimeFigureOut">
              <a:rPr lang="zh-TW" altLang="en-US" smtClean="0"/>
              <a:t>2025/9/26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83586-DD88-40E2-B34F-B95C86CD71E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371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6BDAF-2980-4D00-86F0-72201E8B4080}" type="datetimeFigureOut">
              <a:rPr lang="zh-TW" altLang="en-US" smtClean="0"/>
              <a:t>2025/9/26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83586-DD88-40E2-B34F-B95C86CD71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7929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6BDAF-2980-4D00-86F0-72201E8B4080}" type="datetimeFigureOut">
              <a:rPr lang="zh-TW" altLang="en-US" smtClean="0"/>
              <a:t>2025/9/26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83586-DD88-40E2-B34F-B95C86CD71E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840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6BDAF-2980-4D00-86F0-72201E8B4080}" type="datetimeFigureOut">
              <a:rPr lang="zh-TW" altLang="en-US" smtClean="0"/>
              <a:t>2025/9/26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83586-DD88-40E2-B34F-B95C86CD71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913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6BDAF-2980-4D00-86F0-72201E8B4080}" type="datetimeFigureOut">
              <a:rPr lang="zh-TW" altLang="en-US" smtClean="0"/>
              <a:t>2025/9/26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83586-DD88-40E2-B34F-B95C86CD71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5205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6BDAF-2980-4D00-86F0-72201E8B4080}" type="datetimeFigureOut">
              <a:rPr lang="zh-TW" altLang="en-US" smtClean="0"/>
              <a:t>2025/9/26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83586-DD88-40E2-B34F-B95C86CD71E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60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6BDAF-2980-4D00-86F0-72201E8B4080}" type="datetimeFigureOut">
              <a:rPr lang="zh-TW" altLang="en-US" smtClean="0"/>
              <a:t>2025/9/26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83586-DD88-40E2-B34F-B95C86CD71E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248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6BDAF-2980-4D00-86F0-72201E8B4080}" type="datetimeFigureOut">
              <a:rPr lang="zh-TW" altLang="en-US" smtClean="0"/>
              <a:t>2025/9/26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83586-DD88-40E2-B34F-B95C86CD71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8381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6BDAF-2980-4D00-86F0-72201E8B4080}" type="datetimeFigureOut">
              <a:rPr lang="zh-TW" altLang="en-US" smtClean="0"/>
              <a:t>2025/9/26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83586-DD88-40E2-B34F-B95C86CD71E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797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6BDAF-2980-4D00-86F0-72201E8B4080}" type="datetimeFigureOut">
              <a:rPr lang="zh-TW" altLang="en-US" smtClean="0"/>
              <a:t>2025/9/26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83586-DD88-40E2-B34F-B95C86CD71E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65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6BDAF-2980-4D00-86F0-72201E8B4080}" type="datetimeFigureOut">
              <a:rPr lang="zh-TW" altLang="en-US" smtClean="0"/>
              <a:t>2025/9/26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83586-DD88-40E2-B34F-B95C86CD71E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2093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6BDAF-2980-4D00-86F0-72201E8B4080}" type="datetimeFigureOut">
              <a:rPr lang="zh-TW" altLang="en-US" smtClean="0"/>
              <a:t>2025/9/26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83586-DD88-40E2-B34F-B95C86CD71E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017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0C6BDAF-2980-4D00-86F0-72201E8B4080}" type="datetimeFigureOut">
              <a:rPr lang="zh-TW" altLang="en-US" smtClean="0"/>
              <a:t>2025/9/26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DC83586-DD88-40E2-B34F-B95C86CD71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94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AD5053-3E0D-44E0-8EB3-A23A40B8B4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NIDS</a:t>
            </a:r>
            <a:r>
              <a:rPr lang="zh-TW" altLang="en-US" dirty="0"/>
              <a:t>復現報告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7599054-C942-4138-A498-CFCE16CEBB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R14921A13</a:t>
            </a:r>
            <a:r>
              <a:rPr lang="zh-TW" altLang="en-US" dirty="0"/>
              <a:t> 鄭皓中</a:t>
            </a:r>
          </a:p>
        </p:txBody>
      </p:sp>
    </p:spTree>
    <p:extLst>
      <p:ext uri="{BB962C8B-B14F-4D97-AF65-F5344CB8AC3E}">
        <p14:creationId xmlns:p14="http://schemas.microsoft.com/office/powerpoint/2010/main" val="334730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B00A21-BBFA-4E25-B3EB-22077B15C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復現流程</a:t>
            </a:r>
          </a:p>
        </p:txBody>
      </p:sp>
      <p:pic>
        <p:nvPicPr>
          <p:cNvPr id="19" name="內容版面配置區 18">
            <a:extLst>
              <a:ext uri="{FF2B5EF4-FFF2-40B4-BE49-F238E27FC236}">
                <a16:creationId xmlns:a16="http://schemas.microsoft.com/office/drawing/2014/main" id="{33B7C7E3-A9AA-4970-A69E-63553EF28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3812"/>
          <a:stretch/>
        </p:blipFill>
        <p:spPr>
          <a:xfrm>
            <a:off x="3696933" y="4649381"/>
            <a:ext cx="4798133" cy="1656680"/>
          </a:xfr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AE52DDEC-B6DE-4916-BE87-AC3943D847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6104"/>
          <a:stretch/>
        </p:blipFill>
        <p:spPr>
          <a:xfrm>
            <a:off x="1205343" y="2713134"/>
            <a:ext cx="9505759" cy="1858868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A62E4A49-BC42-4D06-9C88-A85FC1E3FA25}"/>
              </a:ext>
            </a:extLst>
          </p:cNvPr>
          <p:cNvSpPr txBox="1"/>
          <p:nvPr/>
        </p:nvSpPr>
        <p:spPr>
          <a:xfrm>
            <a:off x="7046275" y="5786252"/>
            <a:ext cx="136145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SIDS/AIDS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2EC108D9-C1EC-48F2-B1CD-95A5D43C15BC}"/>
              </a:ext>
            </a:extLst>
          </p:cNvPr>
          <p:cNvSpPr txBox="1"/>
          <p:nvPr/>
        </p:nvSpPr>
        <p:spPr>
          <a:xfrm>
            <a:off x="8572255" y="3839250"/>
            <a:ext cx="197130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Data preprocessing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32876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DB894F-3F0D-46D7-9C90-FCCD2F6D3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復現流程─</a:t>
            </a:r>
            <a:r>
              <a:rPr lang="en-US" altLang="zh-TW" dirty="0"/>
              <a:t>preprocessing()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B99AF2-88D9-4D25-88F9-1E68E87C6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將</a:t>
            </a:r>
            <a:r>
              <a:rPr lang="en-US" altLang="zh-TW" dirty="0"/>
              <a:t>train/test</a:t>
            </a:r>
            <a:r>
              <a:rPr lang="zh-TW" altLang="en-US" dirty="0"/>
              <a:t>資料集進行合併後，進行</a:t>
            </a:r>
            <a:r>
              <a:rPr lang="en-US" altLang="zh-TW" dirty="0"/>
              <a:t>data preprocessing</a:t>
            </a:r>
            <a:r>
              <a:rPr lang="zh-TW" altLang="en-US" dirty="0"/>
              <a:t>，</a:t>
            </a:r>
            <a:r>
              <a:rPr lang="en-US" altLang="zh-TW" dirty="0"/>
              <a:t>preprocessing</a:t>
            </a:r>
            <a:r>
              <a:rPr lang="zh-TW" altLang="en-US" dirty="0"/>
              <a:t>過程包含以下步驟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而進行完</a:t>
            </a:r>
            <a:r>
              <a:rPr lang="en-US" altLang="zh-TW" dirty="0"/>
              <a:t>data preprocessing</a:t>
            </a:r>
            <a:r>
              <a:rPr lang="zh-TW" altLang="en-US" dirty="0"/>
              <a:t>之後，對於每個類別分別以他們的數量判斷</a:t>
            </a:r>
            <a:r>
              <a:rPr lang="en-US" altLang="zh-TW" dirty="0"/>
              <a:t>majority/minority class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DB41B19-83EC-4402-A6E4-8E9410A6D4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286" b="21558"/>
          <a:stretch/>
        </p:blipFill>
        <p:spPr>
          <a:xfrm>
            <a:off x="786224" y="3498701"/>
            <a:ext cx="10619550" cy="97829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4DCA5D1-C5C6-42F6-9A3C-75112D9941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645"/>
          <a:stretch/>
        </p:blipFill>
        <p:spPr>
          <a:xfrm>
            <a:off x="3693224" y="5286055"/>
            <a:ext cx="4169635" cy="117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958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287417-4A43-4838-BB69-7B3E8129A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復現流程─少數類生成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A5846D-08B3-4EBB-8EE2-F8489B1D5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766464" cy="3318936"/>
          </a:xfrm>
        </p:spPr>
        <p:txBody>
          <a:bodyPr/>
          <a:lstStyle/>
          <a:p>
            <a:r>
              <a:rPr lang="zh-TW" altLang="en-US" dirty="0"/>
              <a:t>對於</a:t>
            </a:r>
            <a:r>
              <a:rPr lang="en-US" altLang="zh-TW" dirty="0"/>
              <a:t>minority class</a:t>
            </a:r>
            <a:r>
              <a:rPr lang="zh-TW" altLang="en-US" dirty="0"/>
              <a:t>的部分，由於樣本資料偏少，我們需要生成假資料來補充，使用</a:t>
            </a:r>
            <a:r>
              <a:rPr lang="en-US" altLang="zh-TW" dirty="0"/>
              <a:t>GAMO</a:t>
            </a:r>
            <a:r>
              <a:rPr lang="zh-TW" altLang="en-US" dirty="0"/>
              <a:t>進行生成器的訓練，並根據不足的數量生成樣本，這邊因為直接訓練效果不佳，所以先預訓練</a:t>
            </a:r>
            <a:r>
              <a:rPr lang="en-US" altLang="zh-TW" dirty="0"/>
              <a:t>M/D/G</a:t>
            </a:r>
            <a:r>
              <a:rPr lang="zh-TW" altLang="en-US" dirty="0"/>
              <a:t>之後再同步訓練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709C85-A7AD-422E-B4D4-54CC150357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065"/>
          <a:stretch/>
        </p:blipFill>
        <p:spPr>
          <a:xfrm>
            <a:off x="918358" y="3766160"/>
            <a:ext cx="10355284" cy="150480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0E2F3C8-B73A-461A-98EC-30AB8EA724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032"/>
          <a:stretch/>
        </p:blipFill>
        <p:spPr>
          <a:xfrm>
            <a:off x="5183579" y="5274406"/>
            <a:ext cx="1824842" cy="150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321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E678ED-DE2E-4F1C-8D84-6B233002E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復現流程─少數類生成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6EC2ED-40CB-4686-8DAC-3701C5DA1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根據前面訓練完成的生成器及需要生成的樣本數量，利用</a:t>
            </a:r>
            <a:r>
              <a:rPr lang="en-US" altLang="zh-TW" dirty="0"/>
              <a:t>CFMU</a:t>
            </a:r>
            <a:r>
              <a:rPr lang="zh-TW" altLang="en-US" dirty="0"/>
              <a:t>生成對應</a:t>
            </a:r>
            <a:r>
              <a:rPr lang="en-US" altLang="zh-TW" dirty="0"/>
              <a:t>Label</a:t>
            </a:r>
            <a:r>
              <a:rPr lang="zh-TW" altLang="en-US" dirty="0"/>
              <a:t>的</a:t>
            </a:r>
            <a:r>
              <a:rPr lang="en-US" altLang="zh-TW" dirty="0"/>
              <a:t>Noise</a:t>
            </a:r>
            <a:r>
              <a:rPr lang="zh-TW" altLang="en-US" dirty="0"/>
              <a:t>後以</a:t>
            </a:r>
            <a:r>
              <a:rPr lang="en-US" altLang="zh-TW" dirty="0" err="1"/>
              <a:t>Noise+Label</a:t>
            </a:r>
            <a:r>
              <a:rPr lang="zh-TW" altLang="en-US" dirty="0"/>
              <a:t>生成樣本，最後再將所有樣本合併進原始資料，生成</a:t>
            </a:r>
            <a:r>
              <a:rPr lang="en-US" altLang="zh-TW" dirty="0"/>
              <a:t>balanced minority class data</a:t>
            </a:r>
            <a:r>
              <a:rPr lang="zh-TW" altLang="en-US" dirty="0"/>
              <a:t>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0C95D3E-9735-4EEE-9D03-E440889318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75" r="11948"/>
          <a:stretch/>
        </p:blipFill>
        <p:spPr>
          <a:xfrm>
            <a:off x="1013360" y="3887938"/>
            <a:ext cx="10165278" cy="126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726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AB8B4D-E798-4DFD-A410-67479B31B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復現流程─多數類降採樣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9F5336-782D-4B47-A2D4-618751517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對於多數類，我們使用</a:t>
            </a:r>
            <a:r>
              <a:rPr lang="en-US" altLang="zh-TW" dirty="0" err="1"/>
              <a:t>FuzzyC</a:t>
            </a:r>
            <a:r>
              <a:rPr lang="en-US" altLang="zh-TW" dirty="0"/>
              <a:t> mean</a:t>
            </a:r>
            <a:r>
              <a:rPr lang="zh-TW" altLang="en-US" dirty="0"/>
              <a:t> </a:t>
            </a:r>
            <a:r>
              <a:rPr lang="en-US" altLang="zh-TW" dirty="0"/>
              <a:t>cluster</a:t>
            </a:r>
            <a:r>
              <a:rPr lang="zh-TW" altLang="en-US" dirty="0"/>
              <a:t>區分相關程度，對每個類別的</a:t>
            </a:r>
            <a:r>
              <a:rPr lang="en-US" altLang="zh-TW" dirty="0"/>
              <a:t>target value</a:t>
            </a:r>
            <a:r>
              <a:rPr lang="zh-TW" altLang="en-US" dirty="0"/>
              <a:t>進行</a:t>
            </a:r>
            <a:r>
              <a:rPr lang="en-US" altLang="zh-TW" dirty="0"/>
              <a:t>group sampling</a:t>
            </a:r>
            <a:r>
              <a:rPr lang="zh-TW" altLang="en-US" dirty="0"/>
              <a:t>，最後得到</a:t>
            </a:r>
            <a:r>
              <a:rPr lang="en-US" altLang="zh-TW" dirty="0"/>
              <a:t>final majority class data</a:t>
            </a:r>
            <a:r>
              <a:rPr lang="zh-TW" altLang="en-US" dirty="0"/>
              <a:t>。</a:t>
            </a:r>
            <a:br>
              <a:rPr lang="en-US" altLang="zh-TW" dirty="0"/>
            </a:br>
            <a:r>
              <a:rPr lang="zh-TW" altLang="en-US" dirty="0"/>
              <a:t>為了與實驗結果相符，所以使用了指定類別數量的方法進行。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DE65B77-939A-4CF3-A74B-38477DCD21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37" r="32257"/>
          <a:stretch/>
        </p:blipFill>
        <p:spPr>
          <a:xfrm>
            <a:off x="1618775" y="3996707"/>
            <a:ext cx="8954447" cy="138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945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A7F0AE-88C3-4540-959F-9E6E7CDB6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復現流程─特徵選擇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4118A9-BB92-4372-B28D-DEFF53E9C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根據論文中的做法，這邊使用</a:t>
            </a:r>
            <a:r>
              <a:rPr lang="en-US" altLang="zh-TW" dirty="0" err="1"/>
              <a:t>mGWO</a:t>
            </a:r>
            <a:r>
              <a:rPr lang="zh-TW" altLang="en-US" dirty="0"/>
              <a:t>來篩選特徵，初始化種群後對每個個體的</a:t>
            </a:r>
            <a:r>
              <a:rPr lang="en-US" altLang="zh-TW" dirty="0"/>
              <a:t>Fitness</a:t>
            </a:r>
            <a:r>
              <a:rPr lang="zh-TW" altLang="en-US" dirty="0"/>
              <a:t>排序並選出</a:t>
            </a:r>
            <a:r>
              <a:rPr lang="en-US" altLang="zh-TW" dirty="0"/>
              <a:t>alpha, beta, delta</a:t>
            </a:r>
            <a:r>
              <a:rPr lang="zh-TW" altLang="en-US" dirty="0"/>
              <a:t>，然後迭代計算新的</a:t>
            </a:r>
            <a:r>
              <a:rPr lang="en-US" altLang="zh-TW" dirty="0"/>
              <a:t>Fitness</a:t>
            </a:r>
            <a:r>
              <a:rPr lang="zh-TW" altLang="en-US" dirty="0"/>
              <a:t>，直到最後選出最佳的子集</a:t>
            </a:r>
            <a:r>
              <a:rPr lang="en-US" altLang="zh-TW" dirty="0"/>
              <a:t>alpha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3F54943-82D2-4FD9-8866-8BF11D75BD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90" r="6104"/>
          <a:stretch/>
        </p:blipFill>
        <p:spPr>
          <a:xfrm>
            <a:off x="737258" y="4002645"/>
            <a:ext cx="10717481" cy="123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618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2B1173-140F-4E4B-973E-488C15E2A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復現流程─</a:t>
            </a:r>
            <a:r>
              <a:rPr lang="en-US" altLang="zh-TW" dirty="0"/>
              <a:t>SIDS/AIDS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0537C7-0AF4-4850-ACF4-C946B394E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將前面處理完的資料進行切分，然後分別訓練</a:t>
            </a:r>
            <a:r>
              <a:rPr lang="en-US" altLang="zh-TW" dirty="0"/>
              <a:t>SIDS/AIDS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最後將所有</a:t>
            </a:r>
            <a:r>
              <a:rPr lang="en-US" altLang="zh-TW" dirty="0"/>
              <a:t>SIDS</a:t>
            </a:r>
            <a:r>
              <a:rPr lang="zh-TW" altLang="en-US" dirty="0"/>
              <a:t>預測</a:t>
            </a:r>
            <a:r>
              <a:rPr lang="en-US" altLang="zh-TW" dirty="0"/>
              <a:t>Normal</a:t>
            </a:r>
            <a:r>
              <a:rPr lang="zh-TW" altLang="en-US" dirty="0"/>
              <a:t>的結果交給</a:t>
            </a:r>
            <a:r>
              <a:rPr lang="en-US" altLang="zh-TW" dirty="0"/>
              <a:t>AIDS</a:t>
            </a:r>
            <a:r>
              <a:rPr lang="zh-TW" altLang="en-US" dirty="0"/>
              <a:t>做二次判讀。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304164A-DFE9-4CDE-BDCF-2C00B41FB2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78" t="32511" r="65958" b="27400"/>
          <a:stretch/>
        </p:blipFill>
        <p:spPr>
          <a:xfrm>
            <a:off x="2411694" y="3100119"/>
            <a:ext cx="7368610" cy="93823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8A6D39C-D463-44F5-A968-58EA8F925B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594"/>
          <a:stretch/>
        </p:blipFill>
        <p:spPr>
          <a:xfrm>
            <a:off x="3578901" y="4632722"/>
            <a:ext cx="5034198" cy="16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494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55C1B9-2258-46A6-AC34-B9A6FC006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復現結果</a:t>
            </a:r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1AB3E12E-0FFC-4EFA-B314-94A61C79C7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1660189"/>
              </p:ext>
            </p:extLst>
          </p:nvPr>
        </p:nvGraphicFramePr>
        <p:xfrm>
          <a:off x="2595747" y="2806098"/>
          <a:ext cx="7000505" cy="3069770"/>
        </p:xfrm>
        <a:graphic>
          <a:graphicData uri="http://schemas.openxmlformats.org/drawingml/2006/table">
            <a:tbl>
              <a:tblPr/>
              <a:tblGrid>
                <a:gridCol w="1400101">
                  <a:extLst>
                    <a:ext uri="{9D8B030D-6E8A-4147-A177-3AD203B41FA5}">
                      <a16:colId xmlns:a16="http://schemas.microsoft.com/office/drawing/2014/main" val="141829501"/>
                    </a:ext>
                  </a:extLst>
                </a:gridCol>
                <a:gridCol w="1400101">
                  <a:extLst>
                    <a:ext uri="{9D8B030D-6E8A-4147-A177-3AD203B41FA5}">
                      <a16:colId xmlns:a16="http://schemas.microsoft.com/office/drawing/2014/main" val="2447886887"/>
                    </a:ext>
                  </a:extLst>
                </a:gridCol>
                <a:gridCol w="1400101">
                  <a:extLst>
                    <a:ext uri="{9D8B030D-6E8A-4147-A177-3AD203B41FA5}">
                      <a16:colId xmlns:a16="http://schemas.microsoft.com/office/drawing/2014/main" val="1997556318"/>
                    </a:ext>
                  </a:extLst>
                </a:gridCol>
                <a:gridCol w="1400101">
                  <a:extLst>
                    <a:ext uri="{9D8B030D-6E8A-4147-A177-3AD203B41FA5}">
                      <a16:colId xmlns:a16="http://schemas.microsoft.com/office/drawing/2014/main" val="786333057"/>
                    </a:ext>
                  </a:extLst>
                </a:gridCol>
                <a:gridCol w="1400101">
                  <a:extLst>
                    <a:ext uri="{9D8B030D-6E8A-4147-A177-3AD203B41FA5}">
                      <a16:colId xmlns:a16="http://schemas.microsoft.com/office/drawing/2014/main" val="967372879"/>
                    </a:ext>
                  </a:extLst>
                </a:gridCol>
              </a:tblGrid>
              <a:tr h="452041">
                <a:tc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precision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recall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f1-score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support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731299"/>
                  </a:ext>
                </a:extLst>
              </a:tr>
              <a:tr h="4520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Normal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0.984548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0.735174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0.84178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16120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54707"/>
                  </a:ext>
                </a:extLst>
              </a:tr>
              <a:tr h="4520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Attack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0.938227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0.99714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0.966787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65025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041622"/>
                  </a:ext>
                </a:extLst>
              </a:tr>
              <a:tr h="4520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accuracy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0.945098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810728"/>
                  </a:ext>
                </a:extLst>
              </a:tr>
              <a:tr h="4520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macro avg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0.961387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0.866157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0.904283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81145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192295"/>
                  </a:ext>
                </a:extLst>
              </a:tr>
              <a:tr h="8095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weighted avg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0.947429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0.945098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0.941953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81145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702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92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有機">
  <a:themeElements>
    <a:clrScheme name="有機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有機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有機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27</TotalTime>
  <Words>362</Words>
  <Application>Microsoft Office PowerPoint</Application>
  <PresentationFormat>寬螢幕</PresentationFormat>
  <Paragraphs>53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新細明體</vt:lpstr>
      <vt:lpstr>Arial</vt:lpstr>
      <vt:lpstr>Garamond</vt:lpstr>
      <vt:lpstr>有機</vt:lpstr>
      <vt:lpstr>NIDS復現報告</vt:lpstr>
      <vt:lpstr>復現流程</vt:lpstr>
      <vt:lpstr>復現流程─preprocessing()</vt:lpstr>
      <vt:lpstr>復現流程─少數類生成</vt:lpstr>
      <vt:lpstr>復現流程─少數類生成</vt:lpstr>
      <vt:lpstr>復現流程─多數類降採樣</vt:lpstr>
      <vt:lpstr>復現流程─特徵選擇</vt:lpstr>
      <vt:lpstr>復現流程─SIDS/AIDS</vt:lpstr>
      <vt:lpstr>復現結果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NIDS復現報告</dc:title>
  <dc:creator>常常裝死的人 常常裝死的人</dc:creator>
  <cp:lastModifiedBy>常常裝死的人 常常裝死的人</cp:lastModifiedBy>
  <cp:revision>4</cp:revision>
  <dcterms:created xsi:type="dcterms:W3CDTF">2025-09-26T07:24:56Z</dcterms:created>
  <dcterms:modified xsi:type="dcterms:W3CDTF">2025-09-26T07:52:56Z</dcterms:modified>
</cp:coreProperties>
</file>